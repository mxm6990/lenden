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0" y="-457200"/>
            <a:ext cx="3657600" cy="3657600"/>
          </a:xfrm>
          <a:prstGeom prst="rect">
            <a:avLst/>
          </a:prstGeom>
          <a:solidFill>
            <a:srgbClr val="0F3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502920"/>
            <a:ext cx="502920" cy="502920"/>
          </a:xfrm>
          <a:prstGeom prst="rect">
            <a:avLst/>
          </a:prstGeom>
          <a:solidFill>
            <a:srgbClr val="1A5C38"/>
          </a:solidFill>
          <a:ln w="952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530352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ADE80"/>
                </a:solidFill>
                <a:latin typeface="Calibri"/>
              </a:defRPr>
            </a:pPr>
            <a:r>
              <a:t>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53035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8FAF9"/>
                </a:solidFill>
                <a:latin typeface="Calibri"/>
              </a:defRPr>
            </a:pPr>
            <a:r>
              <a:t>LenDen  ·  লেন্দেন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143000"/>
            <a:ext cx="2926080" cy="292608"/>
          </a:xfrm>
          <a:prstGeom prst="rect">
            <a:avLst/>
          </a:prstGeom>
          <a:solidFill>
            <a:srgbClr val="1A221E"/>
          </a:solidFill>
          <a:ln w="952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17043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4ADE80"/>
                </a:solidFill>
                <a:latin typeface="Calibri"/>
              </a:defRPr>
            </a:pPr>
            <a:r>
              <a:t>STAKEHOLDER BRIEFING · MAY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4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8FAF9"/>
                </a:solidFill>
                <a:latin typeface="Calibri"/>
              </a:defRPr>
            </a:pPr>
            <a:r>
              <a:t>Clarity in every investment.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14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A9A92"/>
                </a:solidFill>
                <a:latin typeface="Calibri"/>
              </a:defRPr>
            </a:pPr>
            <a:r>
              <a:t>প্রতিটি বিনিয়োগে স্পষ্টতা।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15468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A92"/>
                </a:solidFill>
                <a:latin typeface="Calibri"/>
              </a:defRPr>
            </a:pPr>
            <a:r>
              <a:t>A mobile-first retail investing experience for Bangladesh — built for clarity, trust, and regulatory alignment from day one.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16052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8FAF9"/>
                </a:solidFill>
                <a:latin typeface="Calibri"/>
              </a:defRPr>
            </a:pPr>
            <a:r>
              <a:t>Prepared for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41605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A92"/>
                </a:solidFill>
                <a:latin typeface="Calibri"/>
              </a:defRPr>
            </a:pPr>
            <a:r>
              <a:t>Bangladesh Bank · Government · Investors · IT Pioneers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54456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8FAF9"/>
                </a:solidFill>
                <a:latin typeface="Calibri"/>
              </a:defRPr>
            </a:pPr>
            <a:r>
              <a:t>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4544568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A92"/>
                </a:solidFill>
                <a:latin typeface="Calibri"/>
              </a:defRPr>
            </a:pPr>
            <a:r>
              <a:t>Closed-beta prototype · Paper trading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28616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8FAF9"/>
                </a:solidFill>
                <a:latin typeface="Calibri"/>
              </a:defRPr>
            </a:pPr>
            <a:r>
              <a:t>Contact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4928616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A92"/>
                </a:solidFill>
                <a:latin typeface="Calibri"/>
              </a:defRPr>
            </a:pPr>
            <a:r>
              <a:t>mahathirmahbubimf@gmail.com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0" y="-457200"/>
            <a:ext cx="3657600" cy="3657600"/>
          </a:xfrm>
          <a:prstGeom prst="rect">
            <a:avLst/>
          </a:prstGeom>
          <a:solidFill>
            <a:srgbClr val="0F3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10029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ADE80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10029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AF9"/>
                </a:solidFill>
                <a:latin typeface="Calibri"/>
              </a:defRPr>
            </a:pPr>
            <a:r>
              <a:t>Modern retail investing UX for a market that needs trust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00200"/>
            <a:ext cx="6583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8FAF9"/>
                </a:solidFill>
                <a:latin typeface="Calibri"/>
              </a:defRPr>
            </a:pPr>
            <a:r>
              <a:t>LenDen is a bilingual (English / Bengali) mobile app prototype for DSE retail investing UX.</a:t>
            </a:r>
          </a:p>
          <a:p>
            <a:pPr>
              <a:spcAft>
                <a:spcPts val="600"/>
              </a:spcAft>
              <a:defRPr sz="1200">
                <a:solidFill>
                  <a:srgbClr val="F8FAF9"/>
                </a:solidFill>
                <a:latin typeface="Calibri"/>
              </a:defRPr>
            </a:pPr>
            <a:r>
              <a:t>Current version is a closed beta with mock trading — no real order routing, payments, or brokerage execution.</a:t>
            </a:r>
          </a:p>
          <a:p>
            <a:pPr>
              <a:spcAft>
                <a:spcPts val="600"/>
              </a:spcAft>
              <a:defRPr sz="1200">
                <a:solidFill>
                  <a:srgbClr val="F8FAF9"/>
                </a:solidFill>
                <a:latin typeface="Calibri"/>
              </a:defRPr>
            </a:pPr>
            <a:r>
              <a:t>Designed to partner with licensed brokers, Depository Participants (DPs), and regulated data providers.</a:t>
            </a:r>
          </a:p>
          <a:p>
            <a:pPr>
              <a:spcAft>
                <a:spcPts val="600"/>
              </a:spcAft>
              <a:defRPr sz="1200">
                <a:solidFill>
                  <a:srgbClr val="F8FAF9"/>
                </a:solidFill>
                <a:latin typeface="Calibri"/>
              </a:defRPr>
            </a:pPr>
            <a:r>
              <a:t>Targets the gap between 1.6M+ registered BO accounts and genuinely active, confident retail participation.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406640" y="1600200"/>
            <a:ext cx="4114800" cy="1051560"/>
          </a:xfrm>
          <a:prstGeom prst="rect">
            <a:avLst/>
          </a:prstGeom>
          <a:solidFill>
            <a:srgbClr val="1A5C38"/>
          </a:solidFill>
          <a:ln w="952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43800" y="1709928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ADE80"/>
                </a:solidFill>
                <a:latin typeface="Calibri"/>
              </a:defRPr>
            </a:pPr>
            <a:r>
              <a:t>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219456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A92"/>
                </a:solidFill>
                <a:latin typeface="Calibri"/>
              </a:defRPr>
            </a:pPr>
            <a:r>
              <a:t>Current stage — closed beta, 3–5 invited testers (internal target)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6640" y="2788920"/>
            <a:ext cx="4114800" cy="1051560"/>
          </a:xfrm>
          <a:prstGeom prst="rect">
            <a:avLst/>
          </a:prstGeom>
          <a:solidFill>
            <a:srgbClr val="1A221E"/>
          </a:solidFill>
          <a:ln w="9525">
            <a:solidFill>
              <a:srgbClr val="8A9A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898648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ADE80"/>
                </a:solidFill>
                <a:latin typeface="Calibri"/>
              </a:defRPr>
            </a:pPr>
            <a:r>
              <a:t>Mock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338328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A92"/>
                </a:solidFill>
                <a:latin typeface="Calibri"/>
              </a:defRPr>
            </a:pPr>
            <a:r>
              <a:t>No real money movement · No BSEC brokerage license claimed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3977640"/>
            <a:ext cx="4114800" cy="1051560"/>
          </a:xfrm>
          <a:prstGeom prst="rect">
            <a:avLst/>
          </a:prstGeom>
          <a:solidFill>
            <a:srgbClr val="1A221E"/>
          </a:solidFill>
          <a:ln w="9525">
            <a:solidFill>
              <a:srgbClr val="8A9A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43800" y="4087368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ADE80"/>
                </a:solidFill>
                <a:latin typeface="Calibri"/>
              </a:defRPr>
            </a:pPr>
            <a:r>
              <a:t>Mobile-first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457200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A92"/>
                </a:solidFill>
                <a:latin typeface="Calibri"/>
              </a:defRPr>
            </a:pPr>
            <a:r>
              <a:t>React + Capacitor iOS shell · Supabase backend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5349240"/>
            <a:ext cx="11002975" cy="777240"/>
          </a:xfrm>
          <a:prstGeom prst="rect">
            <a:avLst/>
          </a:prstGeom>
          <a:solidFill>
            <a:srgbClr val="1A221E"/>
          </a:solidFill>
          <a:ln w="952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4406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8FAF9"/>
                </a:solidFill>
                <a:latin typeface="Calibri"/>
              </a:defRPr>
            </a:pPr>
            <a:r>
              <a:t>Transparency note: LenDen product metrics (users, AUM, revenue) are not included — the project is in prototype stage. All market statistics cite public sources.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0" y="-457200"/>
            <a:ext cx="3657600" cy="3657600"/>
          </a:xfrm>
          <a:prstGeom prst="rect">
            <a:avLst/>
          </a:prstGeom>
          <a:solidFill>
            <a:srgbClr val="0F3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10029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ADE80"/>
                </a:solidFill>
                <a:latin typeface="Calibri"/>
              </a:defRPr>
            </a:pPr>
            <a:r>
              <a:t>BANGLADESH CAPITAL MARKET · VERIFIED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10029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AF9"/>
                </a:solidFill>
                <a:latin typeface="Calibri"/>
              </a:defRPr>
            </a:pPr>
            <a:r>
              <a:t>A large registered base — but shrinking active participation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00200"/>
            <a:ext cx="2606040" cy="1234440"/>
          </a:xfrm>
          <a:prstGeom prst="rect">
            <a:avLst/>
          </a:prstGeom>
          <a:solidFill>
            <a:srgbClr val="1A5C38"/>
          </a:solidFill>
          <a:ln w="952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09928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ADE80"/>
                </a:solidFill>
                <a:latin typeface="Calibri"/>
              </a:defRPr>
            </a:pPr>
            <a:r>
              <a:t>16.39L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A92"/>
                </a:solidFill>
                <a:latin typeface="Calibri"/>
              </a:defRPr>
            </a:pPr>
            <a:r>
              <a:t>Total BO accounts</a:t>
            </a:r>
            <a:br/>
            <a:r>
              <a:t>24 Dec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1460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9A92"/>
                </a:solidFill>
                <a:latin typeface="Calibri"/>
              </a:defRPr>
            </a:pPr>
            <a:r>
              <a:t>CDBL via TBS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600200"/>
            <a:ext cx="2606040" cy="1234440"/>
          </a:xfrm>
          <a:prstGeom prst="rect">
            <a:avLst/>
          </a:prstGeom>
          <a:solidFill>
            <a:srgbClr val="1A221E"/>
          </a:solidFill>
          <a:ln w="9525">
            <a:solidFill>
              <a:srgbClr val="8A9A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709928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ADE80"/>
                </a:solidFill>
                <a:latin typeface="Calibri"/>
              </a:defRPr>
            </a:pPr>
            <a:r>
              <a:t>12.05L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19456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A92"/>
                </a:solidFill>
                <a:latin typeface="Calibri"/>
              </a:defRPr>
            </a:pPr>
            <a:r>
              <a:t>BO accounts</a:t>
            </a:r>
            <a:br/>
            <a:r>
              <a:t>holding shares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51460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9A92"/>
                </a:solidFill>
                <a:latin typeface="Calibri"/>
              </a:defRPr>
            </a:pPr>
            <a:r>
              <a:t>CDBL via TBS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600200"/>
            <a:ext cx="2606040" cy="1234440"/>
          </a:xfrm>
          <a:prstGeom prst="rect">
            <a:avLst/>
          </a:prstGeom>
          <a:solidFill>
            <a:srgbClr val="1A221E"/>
          </a:solidFill>
          <a:ln w="9525">
            <a:solidFill>
              <a:srgbClr val="8A9A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709928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ADE80"/>
                </a:solidFill>
                <a:latin typeface="Calibri"/>
              </a:defRPr>
            </a:pPr>
            <a:r>
              <a:t>3.67L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19456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A92"/>
                </a:solidFill>
                <a:latin typeface="Calibri"/>
              </a:defRPr>
            </a:pPr>
            <a:r>
              <a:t>BO zero-balance</a:t>
            </a:r>
            <a:br/>
            <a:r>
              <a:t>(+23,538 YoY)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51460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9A92"/>
                </a:solidFill>
                <a:latin typeface="Calibri"/>
              </a:defRPr>
            </a:pPr>
            <a:r>
              <a:t>CDBL via TBS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0" y="1600200"/>
            <a:ext cx="2606040" cy="1234440"/>
          </a:xfrm>
          <a:prstGeom prst="rect">
            <a:avLst/>
          </a:prstGeom>
          <a:solidFill>
            <a:srgbClr val="1A221E"/>
          </a:solidFill>
          <a:ln w="9525">
            <a:solidFill>
              <a:srgbClr val="8A9A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8280" y="1709928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ADE80"/>
                </a:solidFill>
                <a:latin typeface="Calibri"/>
              </a:defRPr>
            </a:pPr>
            <a:r>
              <a:t>~4–5L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219456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A92"/>
                </a:solidFill>
                <a:latin typeface="Calibri"/>
              </a:defRPr>
            </a:pPr>
            <a:r>
              <a:t>Estimated active traders</a:t>
            </a:r>
            <a:br/>
            <a:r>
              <a:t>(brokerage estimates)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251460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9A92"/>
                </a:solidFill>
                <a:latin typeface="Calibri"/>
              </a:defRPr>
            </a:pPr>
            <a:r>
              <a:t>TBS Dec 2025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063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FAF9"/>
                </a:solidFill>
                <a:latin typeface="Calibri"/>
              </a:defRPr>
            </a:pPr>
            <a:r>
              <a:t>BO account trend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4290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A92"/>
                </a:solidFill>
                <a:latin typeface="Calibri"/>
              </a:defRPr>
            </a:pPr>
            <a:r>
              <a:t>2016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83080" y="3465576"/>
            <a:ext cx="5029200" cy="164592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95160" y="34290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8FAF9"/>
                </a:solidFill>
                <a:latin typeface="Calibri"/>
              </a:defRPr>
            </a:pPr>
            <a:r>
              <a:t>29.2L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377647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A92"/>
                </a:solidFill>
                <a:latin typeface="Calibri"/>
              </a:defRPr>
            </a:pPr>
            <a:r>
              <a:t>2024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83080" y="3813048"/>
            <a:ext cx="2866644" cy="16459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95160" y="377647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8FAF9"/>
                </a:solidFill>
                <a:latin typeface="Calibri"/>
              </a:defRPr>
            </a:pPr>
            <a:r>
              <a:t>16.7L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4123944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A92"/>
                </a:solidFill>
                <a:latin typeface="Calibri"/>
              </a:defRPr>
            </a:pPr>
            <a:r>
              <a:t>Dec 2025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783080" y="4160520"/>
            <a:ext cx="2816352" cy="16459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95160" y="412394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8FAF9"/>
                </a:solidFill>
                <a:latin typeface="Calibri"/>
              </a:defRPr>
            </a:pPr>
            <a:r>
              <a:t>16.39L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5029200"/>
            <a:ext cx="11002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9A92"/>
                </a:solidFill>
                <a:latin typeface="Calibri"/>
              </a:defRPr>
            </a:pPr>
            <a:r>
              <a:t>1.26 million investors exited over 8 years (2016→2024). Source: Financial Express, citing DSE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0" y="-457200"/>
            <a:ext cx="3657600" cy="3657600"/>
          </a:xfrm>
          <a:prstGeom prst="rect">
            <a:avLst/>
          </a:prstGeom>
          <a:solidFill>
            <a:srgbClr val="0F3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10029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ADE80"/>
                </a:solidFill>
                <a:latin typeface="Calibri"/>
              </a:defRPr>
            </a:pPr>
            <a:r>
              <a:t>INVESTOR PROFILE · BSEC / CDBL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10029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AF9"/>
                </a:solidFill>
                <a:latin typeface="Calibri"/>
              </a:defRPr>
            </a:pPr>
            <a:r>
              <a:t>Small retail investors are leaving faster than institutions return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0020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A92"/>
                </a:solidFill>
                <a:latin typeface="Calibri"/>
              </a:defRPr>
            </a:pPr>
            <a:r>
              <a:t>Portfolio &lt; Tk 1L</a:t>
            </a:r>
          </a:p>
        </p:txBody>
      </p:sp>
      <p:sp>
        <p:nvSpPr>
          <p:cNvPr id="6" name="Rectangle 5"/>
          <p:cNvSpPr/>
          <p:nvPr/>
        </p:nvSpPr>
        <p:spPr>
          <a:xfrm>
            <a:off x="2331720" y="1636776"/>
            <a:ext cx="3497579" cy="14630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29400" y="16002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8FAF9"/>
                </a:solidFill>
                <a:latin typeface="Calibri"/>
              </a:defRPr>
            </a:pPr>
            <a:r>
              <a:t>8.32L accounts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47672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A92"/>
                </a:solidFill>
                <a:latin typeface="Calibri"/>
              </a:defRPr>
            </a:pPr>
            <a:r>
              <a:t>Tk 1L – 10L</a:t>
            </a:r>
          </a:p>
        </p:txBody>
      </p:sp>
      <p:sp>
        <p:nvSpPr>
          <p:cNvPr id="9" name="Rectangle 8"/>
          <p:cNvSpPr/>
          <p:nvPr/>
        </p:nvSpPr>
        <p:spPr>
          <a:xfrm>
            <a:off x="2331720" y="1984248"/>
            <a:ext cx="1440180" cy="14630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94767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8FAF9"/>
                </a:solidFill>
                <a:latin typeface="Calibri"/>
              </a:defRPr>
            </a:pPr>
            <a:r>
              <a:t>2.85L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95144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A92"/>
                </a:solidFill>
                <a:latin typeface="Calibri"/>
              </a:defRPr>
            </a:pPr>
            <a:r>
              <a:t>Tk 10L – 50L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31720" y="2331720"/>
            <a:ext cx="493776" cy="14630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2295144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8FAF9"/>
                </a:solidFill>
                <a:latin typeface="Calibri"/>
              </a:defRPr>
            </a:pPr>
            <a:r>
              <a:t>80,608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642616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A92"/>
                </a:solidFill>
                <a:latin typeface="Calibri"/>
              </a:defRPr>
            </a:pPr>
            <a:r>
              <a:t>&gt; Tk 1 crore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31720" y="2679192"/>
            <a:ext cx="164592" cy="14630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2642616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8FAF9"/>
                </a:solidFill>
                <a:latin typeface="Calibri"/>
              </a:defRPr>
            </a:pPr>
            <a:r>
              <a:t>13,316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2461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9A92"/>
                </a:solidFill>
                <a:latin typeface="Calibri"/>
              </a:defRPr>
            </a:pPr>
            <a:r>
              <a:t>Portfolio distribution as of Jun/Jul 2025. Sources: BSEC, TBS.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0" y="1600200"/>
            <a:ext cx="4206240" cy="1143000"/>
          </a:xfrm>
          <a:prstGeom prst="rect">
            <a:avLst/>
          </a:prstGeom>
          <a:solidFill>
            <a:srgbClr val="1A5C38"/>
          </a:solidFill>
          <a:ln w="952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52360" y="1709928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ADE80"/>
                </a:solidFill>
                <a:latin typeface="Calibri"/>
              </a:defRPr>
            </a:pPr>
            <a:r>
              <a:t>37.9% → ~20%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219456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A92"/>
                </a:solidFill>
                <a:latin typeface="Calibri"/>
              </a:defRPr>
            </a:pPr>
            <a:r>
              <a:t>Retail shareholding in DSE-listed companies fell nearly half over 12 years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242316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9A92"/>
                </a:solidFill>
                <a:latin typeface="Calibri"/>
              </a:defRPr>
            </a:pPr>
            <a:r>
              <a:t>Daily Star / DSE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0" y="2880360"/>
            <a:ext cx="4206240" cy="1143000"/>
          </a:xfrm>
          <a:prstGeom prst="rect">
            <a:avLst/>
          </a:prstGeom>
          <a:solidFill>
            <a:srgbClr val="1A221E"/>
          </a:solidFill>
          <a:ln w="9525">
            <a:solidFill>
              <a:srgbClr val="8A9A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52360" y="2990088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ADE80"/>
                </a:solidFill>
                <a:latin typeface="Calibri"/>
              </a:defRPr>
            </a:pPr>
            <a:r>
              <a:t>−9%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347472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A92"/>
                </a:solidFill>
                <a:latin typeface="Calibri"/>
              </a:defRPr>
            </a:pPr>
            <a:r>
              <a:t>Accounts below Tk 1L declined by 84,409 in one year (Jun 2024→Jun 2025)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370332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9A92"/>
                </a:solidFill>
                <a:latin typeface="Calibri"/>
              </a:defRPr>
            </a:pPr>
            <a:r>
              <a:t>BSEC via TBS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0" y="4160520"/>
            <a:ext cx="4206240" cy="1143000"/>
          </a:xfrm>
          <a:prstGeom prst="rect">
            <a:avLst/>
          </a:prstGeom>
          <a:solidFill>
            <a:srgbClr val="1A221E"/>
          </a:solidFill>
          <a:ln w="9525">
            <a:solidFill>
              <a:srgbClr val="8A9A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52360" y="4270248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ADE80"/>
                </a:solidFill>
                <a:latin typeface="Calibri"/>
              </a:defRPr>
            </a:pPr>
            <a:r>
              <a:t>DSEX ~4,883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475488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A92"/>
                </a:solidFill>
                <a:latin typeface="Calibri"/>
              </a:defRPr>
            </a:pPr>
            <a:r>
              <a:t>Benchmark down 333 points in 2025; DS30 at ~1,882 (Dec 2025)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60" y="498348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9A92"/>
                </a:solidFill>
                <a:latin typeface="Calibri"/>
              </a:defRPr>
            </a:pPr>
            <a:r>
              <a:t>TBS Dec 2025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0" y="-457200"/>
            <a:ext cx="3657600" cy="3657600"/>
          </a:xfrm>
          <a:prstGeom prst="rect">
            <a:avLst/>
          </a:prstGeom>
          <a:solidFill>
            <a:srgbClr val="0F3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10029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ADE80"/>
                </a:solidFill>
                <a:latin typeface="Calibri"/>
              </a:defRPr>
            </a:pPr>
            <a:r>
              <a:t>DIGITAL INFRASTRUCTURE · BTRC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10029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AF9"/>
                </a:solidFill>
                <a:latin typeface="Calibri"/>
              </a:defRPr>
            </a:pPr>
            <a:r>
              <a:t>Connectivity is national — capital markets UX is not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00200"/>
            <a:ext cx="2697480" cy="1234440"/>
          </a:xfrm>
          <a:prstGeom prst="rect">
            <a:avLst/>
          </a:prstGeom>
          <a:solidFill>
            <a:srgbClr val="1A5C38"/>
          </a:solidFill>
          <a:ln w="952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09928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ADE80"/>
                </a:solidFill>
                <a:latin typeface="Calibri"/>
              </a:defRPr>
            </a:pPr>
            <a:r>
              <a:t>186M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A92"/>
                </a:solidFill>
                <a:latin typeface="Calibri"/>
              </a:defRPr>
            </a:pPr>
            <a:r>
              <a:t>Mobile phone subscribers</a:t>
            </a:r>
            <a:br/>
            <a:r>
              <a:t>March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14600"/>
            <a:ext cx="2423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9A92"/>
                </a:solidFill>
                <a:latin typeface="Calibri"/>
              </a:defRPr>
            </a:pPr>
            <a:r>
              <a:t>BTRC / AMTOB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1600200"/>
            <a:ext cx="2697480" cy="1234440"/>
          </a:xfrm>
          <a:prstGeom prst="rect">
            <a:avLst/>
          </a:prstGeom>
          <a:solidFill>
            <a:srgbClr val="1A5C38"/>
          </a:solidFill>
          <a:ln w="952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1709928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ADE80"/>
                </a:solidFill>
                <a:latin typeface="Calibri"/>
              </a:defRPr>
            </a:pPr>
            <a:r>
              <a:t>130M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19456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A92"/>
                </a:solidFill>
                <a:latin typeface="Calibri"/>
              </a:defRPr>
            </a:pPr>
            <a:r>
              <a:t>Total internet subscribers</a:t>
            </a:r>
            <a:br/>
            <a:r>
              <a:t>March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514600"/>
            <a:ext cx="2423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9A92"/>
                </a:solidFill>
                <a:latin typeface="Calibri"/>
              </a:defRPr>
            </a:pPr>
            <a:r>
              <a:t>BTRC / AMTOB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1600200"/>
            <a:ext cx="2697480" cy="1234440"/>
          </a:xfrm>
          <a:prstGeom prst="rect">
            <a:avLst/>
          </a:prstGeom>
          <a:solidFill>
            <a:srgbClr val="1A5C38"/>
          </a:solidFill>
          <a:ln w="952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709928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ADE80"/>
                </a:solidFill>
                <a:latin typeface="Calibri"/>
              </a:defRPr>
            </a:pPr>
            <a:r>
              <a:t>115M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19456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A92"/>
                </a:solidFill>
                <a:latin typeface="Calibri"/>
              </a:defRPr>
            </a:pPr>
            <a:r>
              <a:t>Mobile internet subscribers</a:t>
            </a:r>
            <a:br/>
            <a:r>
              <a:t>March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514600"/>
            <a:ext cx="2423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9A92"/>
                </a:solidFill>
                <a:latin typeface="Calibri"/>
              </a:defRPr>
            </a:pPr>
            <a:r>
              <a:t>BTRC / AMTOB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063240"/>
            <a:ext cx="5394960" cy="2286000"/>
          </a:xfrm>
          <a:prstGeom prst="rect">
            <a:avLst/>
          </a:prstGeom>
          <a:solidFill>
            <a:srgbClr val="1A221E"/>
          </a:solidFill>
          <a:ln w="9525">
            <a:solidFill>
              <a:srgbClr val="8A9A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1546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9"/>
                </a:solidFill>
                <a:latin typeface="Calibri"/>
              </a:defRPr>
            </a:pPr>
            <a:r>
              <a:t>The opportunity gap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52044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8FAF9"/>
                </a:solidFill>
                <a:latin typeface="Calibri"/>
              </a:defRPr>
            </a:pPr>
            <a:r>
              <a:t>Hundreds of millions of Bangladeshis are already on smartphones and mobile data.</a:t>
            </a:r>
          </a:p>
          <a:p>
            <a:pPr>
              <a:spcAft>
                <a:spcPts val="600"/>
              </a:spcAft>
              <a:defRPr sz="1100">
                <a:solidFill>
                  <a:srgbClr val="F8FAF9"/>
                </a:solidFill>
                <a:latin typeface="Calibri"/>
              </a:defRPr>
            </a:pPr>
            <a:r>
              <a:t>Retail investing interfaces remain fragmented — broker portals and legacy terminals dominate.</a:t>
            </a:r>
          </a:p>
          <a:p>
            <a:pPr>
              <a:spcAft>
                <a:spcPts val="600"/>
              </a:spcAft>
              <a:defRPr sz="1100">
                <a:solidFill>
                  <a:srgbClr val="F8FAF9"/>
                </a:solidFill>
                <a:latin typeface="Calibri"/>
              </a:defRPr>
            </a:pPr>
            <a:r>
              <a:t>No dominant mobile-native, bilingual retail investing experience exists for the DSE today.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3063240"/>
            <a:ext cx="5349240" cy="2286000"/>
          </a:xfrm>
          <a:prstGeom prst="rect">
            <a:avLst/>
          </a:prstGeom>
          <a:solidFill>
            <a:srgbClr val="1A221E"/>
          </a:solidFill>
          <a:ln w="952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1546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9"/>
                </a:solidFill>
                <a:latin typeface="Calibri"/>
              </a:defRPr>
            </a:pPr>
            <a:r>
              <a:t>LenDen's design thesis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52044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8FAF9"/>
                </a:solidFill>
                <a:latin typeface="Calibri"/>
              </a:defRPr>
            </a:pPr>
            <a:r>
              <a:t>Meet investors on the device they already use daily.</a:t>
            </a:r>
          </a:p>
          <a:p>
            <a:pPr>
              <a:spcAft>
                <a:spcPts val="600"/>
              </a:spcAft>
              <a:defRPr sz="1100">
                <a:solidFill>
                  <a:srgbClr val="F8FAF9"/>
                </a:solidFill>
                <a:latin typeface="Calibri"/>
              </a:defRPr>
            </a:pPr>
            <a:r>
              <a:t>Deliver clarity — portfolio, market, compliance — in Bengali and English.</a:t>
            </a:r>
          </a:p>
          <a:p>
            <a:pPr>
              <a:spcAft>
                <a:spcPts val="600"/>
              </a:spcAft>
              <a:defRPr sz="1100">
                <a:solidFill>
                  <a:srgbClr val="F8FAF9"/>
                </a:solidFill>
                <a:latin typeface="Calibri"/>
              </a:defRPr>
            </a:pPr>
            <a:r>
              <a:t>Build trust infrastructure (KYC, audit, disclosures) before scaling execution.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0" y="-457200"/>
            <a:ext cx="3657600" cy="3657600"/>
          </a:xfrm>
          <a:prstGeom prst="rect">
            <a:avLst/>
          </a:prstGeom>
          <a:solidFill>
            <a:srgbClr val="0F3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10029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ADE80"/>
                </a:solidFill>
                <a:latin typeface="Calibri"/>
              </a:defRPr>
            </a:pPr>
            <a: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10029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AF9"/>
                </a:solidFill>
                <a:latin typeface="Calibri"/>
              </a:defRPr>
            </a:pPr>
            <a:r>
              <a:t>LenDen — clarity in every investment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50876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A92"/>
                </a:solidFill>
                <a:latin typeface="Calibri"/>
              </a:defRPr>
            </a:pPr>
            <a:r>
              <a:t>LenDen (লেন্দেন) is a mobile-first prototype for exploring DSE retail investing UX. It is intentionally honest about its prototype status.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148840"/>
            <a:ext cx="5943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8FAF9"/>
                </a:solidFill>
                <a:latin typeface="Calibri"/>
              </a:defRPr>
            </a:pPr>
            <a:r>
              <a:t>Home — Portfolio summary, buying power, DSE session status, watchlist</a:t>
            </a:r>
          </a:p>
          <a:p>
            <a:pPr>
              <a:spcAft>
                <a:spcPts val="600"/>
              </a:spcAft>
              <a:defRPr sz="1100">
                <a:solidFill>
                  <a:srgbClr val="F8FAF9"/>
                </a:solidFill>
                <a:latin typeface="Calibri"/>
              </a:defRPr>
            </a:pPr>
            <a:r>
              <a:t>Market — DSE index, search, securities list</a:t>
            </a:r>
          </a:p>
          <a:p>
            <a:pPr>
              <a:spcAft>
                <a:spcPts val="600"/>
              </a:spcAft>
              <a:defRPr sz="1100">
                <a:solidFill>
                  <a:srgbClr val="F8FAF9"/>
                </a:solidFill>
                <a:latin typeface="Calibri"/>
              </a:defRPr>
            </a:pPr>
            <a:r>
              <a:t>Portfolio — Holdings, performance chart, sector allocation</a:t>
            </a:r>
          </a:p>
          <a:p>
            <a:pPr>
              <a:spcAft>
                <a:spcPts val="600"/>
              </a:spcAft>
              <a:defRPr sz="1100">
                <a:solidFill>
                  <a:srgbClr val="F8FAF9"/>
                </a:solidFill>
                <a:latin typeface="Calibri"/>
              </a:defRPr>
            </a:pPr>
            <a:r>
              <a:t>Stock detail — Quotes, position, company context</a:t>
            </a:r>
          </a:p>
          <a:p>
            <a:pPr>
              <a:spcAft>
                <a:spcPts val="600"/>
              </a:spcAft>
              <a:defRPr sz="1100">
                <a:solidFill>
                  <a:srgbClr val="F8FAF9"/>
                </a:solidFill>
                <a:latin typeface="Calibri"/>
              </a:defRPr>
            </a:pPr>
            <a:r>
              <a:t>Trust Center — KYC flows, security, legal consents, support</a:t>
            </a:r>
          </a:p>
          <a:p>
            <a:pPr>
              <a:spcAft>
                <a:spcPts val="600"/>
              </a:spcAft>
              <a:defRPr sz="1100">
                <a:solidFill>
                  <a:srgbClr val="F8FAF9"/>
                </a:solidFill>
                <a:latin typeface="Calibri"/>
              </a:defRPr>
            </a:pPr>
            <a:r>
              <a:t>Mock buy flow — Order preview and simulated submit (paper trading)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6560" y="1508760"/>
            <a:ext cx="4846320" cy="292608"/>
          </a:xfrm>
          <a:prstGeom prst="rect">
            <a:avLst/>
          </a:prstGeom>
          <a:solidFill>
            <a:srgbClr val="1A221E"/>
          </a:solidFill>
          <a:ln w="952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5361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BBF24"/>
                </a:solidFill>
                <a:latin typeface="Calibri"/>
              </a:defRPr>
            </a:pPr>
            <a:r>
              <a:t>PROTOTYPE BOUNDARIES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192024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8FAF9"/>
                </a:solidFill>
                <a:latin typeface="Calibri"/>
              </a:defRPr>
            </a:pPr>
            <a:r>
              <a:t>No real order routing to DSE</a:t>
            </a:r>
          </a:p>
          <a:p>
            <a:pPr>
              <a:spcAft>
                <a:spcPts val="600"/>
              </a:spcAft>
              <a:defRPr sz="1100">
                <a:solidFill>
                  <a:srgbClr val="F8FAF9"/>
                </a:solidFill>
                <a:latin typeface="Calibri"/>
              </a:defRPr>
            </a:pPr>
            <a:r>
              <a:t>No real payment movement (bKash, bank transfers)</a:t>
            </a:r>
          </a:p>
          <a:p>
            <a:pPr>
              <a:spcAft>
                <a:spcPts val="600"/>
              </a:spcAft>
              <a:defRPr sz="1100">
                <a:solidFill>
                  <a:srgbClr val="F8FAF9"/>
                </a:solidFill>
                <a:latin typeface="Calibri"/>
              </a:defRPr>
            </a:pPr>
            <a:r>
              <a:t>No investment advice</a:t>
            </a:r>
          </a:p>
          <a:p>
            <a:pPr>
              <a:spcAft>
                <a:spcPts val="600"/>
              </a:spcAft>
              <a:defRPr sz="1100">
                <a:solidFill>
                  <a:srgbClr val="F8FAF9"/>
                </a:solidFill>
                <a:latin typeface="Calibri"/>
              </a:defRPr>
            </a:pPr>
            <a:r>
              <a:t>No licensed live market data in default mode</a:t>
            </a:r>
          </a:p>
          <a:p>
            <a:pPr>
              <a:spcAft>
                <a:spcPts val="600"/>
              </a:spcAft>
              <a:defRPr sz="1100">
                <a:solidFill>
                  <a:srgbClr val="F8FAF9"/>
                </a:solidFill>
                <a:latin typeface="Calibri"/>
              </a:defRPr>
            </a:pPr>
            <a:r>
              <a:t>Learn tab &amp; quick actions — built, disabled for later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66560" y="4434840"/>
            <a:ext cx="4846320" cy="914400"/>
          </a:xfrm>
          <a:prstGeom prst="rect">
            <a:avLst/>
          </a:prstGeom>
          <a:solidFill>
            <a:srgbClr val="1A221E"/>
          </a:solidFill>
          <a:ln w="9525">
            <a:solidFill>
              <a:srgbClr val="8A9A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3720" y="45262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FAF9"/>
                </a:solidFill>
                <a:latin typeface="Calibri"/>
              </a:defRPr>
            </a:pPr>
            <a:r>
              <a:t>DSE trading hours modeled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4800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A92"/>
                </a:solidFill>
                <a:latin typeface="Calibri"/>
              </a:defRPr>
            </a:pPr>
            <a:r>
              <a:t>Sunday – Thursday · 10:00 – 14:30 (Asia/Dhaka). Mock orders respect market-open gate.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0" y="-457200"/>
            <a:ext cx="3657600" cy="3657600"/>
          </a:xfrm>
          <a:prstGeom prst="rect">
            <a:avLst/>
          </a:prstGeom>
          <a:solidFill>
            <a:srgbClr val="0F3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10029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ADE80"/>
                </a:solidFill>
                <a:latin typeface="Calibri"/>
              </a:defRPr>
            </a:pPr>
            <a:r>
              <a:t>TECHNOLOGY · FOR IT PIONEERS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10029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AF9"/>
                </a:solidFill>
                <a:latin typeface="Calibri"/>
              </a:defRPr>
            </a:pPr>
            <a:r>
              <a:t>Modern, auditable, mobile-native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00200"/>
            <a:ext cx="5303520" cy="868680"/>
          </a:xfrm>
          <a:prstGeom prst="rect">
            <a:avLst/>
          </a:prstGeom>
          <a:solidFill>
            <a:srgbClr val="1A5C38"/>
          </a:solidFill>
          <a:ln w="952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73352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FAF9"/>
                </a:solidFill>
                <a:latin typeface="Calibri"/>
              </a:defRPr>
            </a:pPr>
            <a:r>
              <a:t>Client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A92"/>
                </a:solidFill>
                <a:latin typeface="Calibri"/>
              </a:defRPr>
            </a:pPr>
            <a:r>
              <a:t>React 19 · TypeScript · Vite · Tailwind CSS v4 · Capacitor 7 (iOS)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606040"/>
            <a:ext cx="5303520" cy="868680"/>
          </a:xfrm>
          <a:prstGeom prst="rect">
            <a:avLst/>
          </a:prstGeom>
          <a:solidFill>
            <a:srgbClr val="1A221E"/>
          </a:solidFill>
          <a:ln w="9525">
            <a:solidFill>
              <a:srgbClr val="8A9A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79192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FAF9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53512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A92"/>
                </a:solidFill>
                <a:latin typeface="Calibri"/>
              </a:defRPr>
            </a:pPr>
            <a:r>
              <a:t>Supabase (Auth, Postgres, Edge Functions) · Row-level security ready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3611880"/>
            <a:ext cx="5303520" cy="868680"/>
          </a:xfrm>
          <a:prstGeom prst="rect">
            <a:avLst/>
          </a:prstGeom>
          <a:solidFill>
            <a:srgbClr val="1A221E"/>
          </a:solidFill>
          <a:ln w="9525">
            <a:solidFill>
              <a:srgbClr val="8A9A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685032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FAF9"/>
                </a:solidFill>
                <a:latin typeface="Calibri"/>
              </a:defRPr>
            </a:pPr>
            <a:r>
              <a:t>Market data modes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959352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A92"/>
                </a:solidFill>
                <a:latin typeface="Calibri"/>
              </a:defRPr>
            </a:pPr>
            <a:r>
              <a:t>Mock (default) · Experimental DSE (proxied, unofficial) · Licensed vendor (planned)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600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FAF9"/>
                </a:solidFill>
                <a:latin typeface="Calibri"/>
              </a:defRPr>
            </a:pPr>
            <a:r>
              <a:t>Data flow (current prototype)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965960"/>
            <a:ext cx="1234440" cy="502920"/>
          </a:xfrm>
          <a:prstGeom prst="rect">
            <a:avLst/>
          </a:prstGeom>
          <a:solidFill>
            <a:srgbClr val="1A221E"/>
          </a:solidFill>
          <a:ln w="9525">
            <a:solidFill>
              <a:srgbClr val="8A9A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057400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8FAF9"/>
                </a:solidFill>
                <a:latin typeface="Calibri"/>
              </a:defRPr>
            </a:pPr>
            <a:r>
              <a:t>Mobile App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26680" y="1965960"/>
            <a:ext cx="1234440" cy="502920"/>
          </a:xfrm>
          <a:prstGeom prst="rect">
            <a:avLst/>
          </a:prstGeom>
          <a:solidFill>
            <a:srgbClr val="1A221E"/>
          </a:solidFill>
          <a:ln w="9525">
            <a:solidFill>
              <a:srgbClr val="8A9A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2057400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8FAF9"/>
                </a:solidFill>
                <a:latin typeface="Calibri"/>
              </a:defRPr>
            </a:pPr>
            <a:r>
              <a:t>Supabase Auth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2560" y="1965960"/>
            <a:ext cx="1234440" cy="502920"/>
          </a:xfrm>
          <a:prstGeom prst="rect">
            <a:avLst/>
          </a:prstGeom>
          <a:solidFill>
            <a:srgbClr val="1A221E"/>
          </a:solidFill>
          <a:ln w="9525">
            <a:solidFill>
              <a:srgbClr val="8A9A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280" y="2057400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8FAF9"/>
                </a:solidFill>
                <a:latin typeface="Calibri"/>
              </a:defRPr>
            </a:pPr>
            <a:r>
              <a:t>Edge Functions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378440" y="1965960"/>
            <a:ext cx="1234440" cy="502920"/>
          </a:xfrm>
          <a:prstGeom prst="rect">
            <a:avLst/>
          </a:prstGeom>
          <a:solidFill>
            <a:srgbClr val="1A221E"/>
          </a:solidFill>
          <a:ln w="9525">
            <a:solidFill>
              <a:srgbClr val="8A9A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24160" y="2057400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8FAF9"/>
                </a:solidFill>
                <a:latin typeface="Calibri"/>
              </a:defRPr>
            </a:pPr>
            <a:r>
              <a:t>Postgres + Cache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2743200"/>
            <a:ext cx="5029200" cy="2194560"/>
          </a:xfrm>
          <a:prstGeom prst="rect">
            <a:avLst/>
          </a:prstGeom>
          <a:solidFill>
            <a:srgbClr val="1A221E"/>
          </a:solidFill>
          <a:ln w="9525">
            <a:solidFill>
              <a:srgbClr val="8A9A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83464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FAF9"/>
                </a:solidFill>
                <a:latin typeface="Calibri"/>
              </a:defRPr>
            </a:pPr>
            <a:r>
              <a:t>Security posture (planned)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315468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F8FAF9"/>
                </a:solidFill>
                <a:latin typeface="Calibri"/>
              </a:defRPr>
            </a:pPr>
            <a:r>
              <a:t>TLS in transit · encryption at rest for NID/TIN</a:t>
            </a:r>
          </a:p>
          <a:p>
            <a:pPr>
              <a:spcAft>
                <a:spcPts val="600"/>
              </a:spcAft>
              <a:defRPr sz="1000">
                <a:solidFill>
                  <a:srgbClr val="F8FAF9"/>
                </a:solidFill>
                <a:latin typeface="Calibri"/>
              </a:defRPr>
            </a:pPr>
            <a:r>
              <a:t>Append-only audit logs for sensitive actions</a:t>
            </a:r>
          </a:p>
          <a:p>
            <a:pPr>
              <a:spcAft>
                <a:spcPts val="600"/>
              </a:spcAft>
              <a:defRPr sz="1000">
                <a:solidFill>
                  <a:srgbClr val="F8FAF9"/>
                </a:solidFill>
                <a:latin typeface="Calibri"/>
              </a:defRPr>
            </a:pPr>
            <a:r>
              <a:t>Least-privilege admin · session/device management</a:t>
            </a:r>
          </a:p>
          <a:p>
            <a:pPr>
              <a:spcAft>
                <a:spcPts val="600"/>
              </a:spcAft>
              <a:defRPr sz="1000">
                <a:solidFill>
                  <a:srgbClr val="F8FAF9"/>
                </a:solidFill>
                <a:latin typeface="Calibri"/>
              </a:defRPr>
            </a:pPr>
            <a:r>
              <a:t>NID masked in UI; access logged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46177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9A92"/>
                </a:solidFill>
                <a:latin typeface="Calibri"/>
              </a:defRPr>
            </a:pPr>
            <a:r>
              <a:t>Note: Production encryption not yet implemented — prototype stores mock data.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0" y="-457200"/>
            <a:ext cx="3657600" cy="3657600"/>
          </a:xfrm>
          <a:prstGeom prst="rect">
            <a:avLst/>
          </a:prstGeom>
          <a:solidFill>
            <a:srgbClr val="0F3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10029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ADE80"/>
                </a:solidFill>
                <a:latin typeface="Calibri"/>
              </a:defRPr>
            </a:pPr>
            <a:r>
              <a:t>REGULATORY ALIGNMENT · BANGLADESH BANK &amp; BSEC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10029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AF9"/>
                </a:solidFill>
                <a:latin typeface="Calibri"/>
              </a:defRPr>
            </a:pPr>
            <a:r>
              <a:t>Partner-first model — not an unlicensed broker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508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9"/>
                </a:solidFill>
                <a:latin typeface="Calibri"/>
              </a:defRPr>
            </a:pPr>
            <a:r>
              <a:t>What live execution would require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28800"/>
            <a:ext cx="5669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8FAF9"/>
                </a:solidFill>
                <a:latin typeface="Calibri"/>
              </a:defRPr>
            </a:pPr>
            <a:r>
              <a:t>Licensed brokerage partner aligned with BSEC requirements</a:t>
            </a:r>
          </a:p>
          <a:p>
            <a:pPr>
              <a:spcAft>
                <a:spcPts val="600"/>
              </a:spcAft>
              <a:defRPr sz="1100">
                <a:solidFill>
                  <a:srgbClr val="F8FAF9"/>
                </a:solidFill>
                <a:latin typeface="Calibri"/>
              </a:defRPr>
            </a:pPr>
            <a:r>
              <a:t>Order routing to exchange or broker OMS</a:t>
            </a:r>
          </a:p>
          <a:p>
            <a:pPr>
              <a:spcAft>
                <a:spcPts val="600"/>
              </a:spcAft>
              <a:defRPr sz="1100">
                <a:solidFill>
                  <a:srgbClr val="F8FAF9"/>
                </a:solidFill>
                <a:latin typeface="Calibri"/>
              </a:defRPr>
            </a:pPr>
            <a:r>
              <a:t>Settlement &amp; custody via CDBL</a:t>
            </a:r>
          </a:p>
          <a:p>
            <a:pPr>
              <a:spcAft>
                <a:spcPts val="600"/>
              </a:spcAft>
              <a:defRPr sz="1100">
                <a:solidFill>
                  <a:srgbClr val="F8FAF9"/>
                </a:solidFill>
                <a:latin typeface="Calibri"/>
              </a:defRPr>
            </a:pPr>
            <a:r>
              <a:t>BO account opening through a Depository Participant</a:t>
            </a:r>
          </a:p>
          <a:p>
            <a:pPr>
              <a:spcAft>
                <a:spcPts val="600"/>
              </a:spcAft>
              <a:defRPr sz="1100">
                <a:solidFill>
                  <a:srgbClr val="F8FAF9"/>
                </a:solidFill>
                <a:latin typeface="Calibri"/>
              </a:defRPr>
            </a:pPr>
            <a:r>
              <a:t>Licensed market data vendor (not community/unofficial feeds)</a:t>
            </a:r>
          </a:p>
          <a:p>
            <a:pPr>
              <a:spcAft>
                <a:spcPts val="600"/>
              </a:spcAft>
              <a:defRPr sz="1100">
                <a:solidFill>
                  <a:srgbClr val="F8FAF9"/>
                </a:solidFill>
                <a:latin typeface="Calibri"/>
              </a:defRPr>
            </a:pPr>
            <a:r>
              <a:t>AML/KYC provider integration and screening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1508760"/>
            <a:ext cx="5029200" cy="1234440"/>
          </a:xfrm>
          <a:prstGeom prst="rect">
            <a:avLst/>
          </a:prstGeom>
          <a:solidFill>
            <a:srgbClr val="1A5C38"/>
          </a:solidFill>
          <a:ln w="952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60020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FAF9"/>
                </a:solidFill>
                <a:latin typeface="Calibri"/>
              </a:defRPr>
            </a:pPr>
            <a:r>
              <a:t>LenDen's intended role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1874519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A92"/>
                </a:solidFill>
                <a:latin typeface="Calibri"/>
              </a:defRPr>
            </a:pPr>
            <a:r>
              <a:t>An investing UX and education layer for Bangladeshi retail investors — not a standalone licensed broker on day one.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2926080"/>
            <a:ext cx="5029200" cy="2011680"/>
          </a:xfrm>
          <a:prstGeom prst="rect">
            <a:avLst/>
          </a:prstGeom>
          <a:solidFill>
            <a:srgbClr val="1A221E"/>
          </a:solidFill>
          <a:ln w="9525">
            <a:solidFill>
              <a:srgbClr val="8A9A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301752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FAF9"/>
                </a:solidFill>
                <a:latin typeface="Calibri"/>
              </a:defRPr>
            </a:pPr>
            <a:r>
              <a:t>Prototype compliance stance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333756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F8FAF9"/>
                </a:solidFill>
                <a:latin typeface="Calibri"/>
              </a:defRPr>
            </a:pPr>
            <a:r>
              <a:t>Clear "prototype / mock trading" labeling throughout app</a:t>
            </a:r>
          </a:p>
          <a:p>
            <a:pPr>
              <a:spcAft>
                <a:spcPts val="600"/>
              </a:spcAft>
              <a:defRPr sz="1000">
                <a:solidFill>
                  <a:srgbClr val="F8FAF9"/>
                </a:solidFill>
                <a:latin typeface="Calibri"/>
              </a:defRPr>
            </a:pPr>
            <a:r>
              <a:t>Risk disclosures and legal consents in Trust Center</a:t>
            </a:r>
          </a:p>
          <a:p>
            <a:pPr>
              <a:spcAft>
                <a:spcPts val="600"/>
              </a:spcAft>
              <a:defRPr sz="1000">
                <a:solidFill>
                  <a:srgbClr val="F8FAF9"/>
                </a:solidFill>
                <a:latin typeface="Calibri"/>
              </a:defRPr>
            </a:pPr>
            <a:r>
              <a:t>Market-hours enforcement on mock orders</a:t>
            </a:r>
          </a:p>
          <a:p>
            <a:pPr>
              <a:spcAft>
                <a:spcPts val="600"/>
              </a:spcAft>
              <a:defRPr sz="1000">
                <a:solidFill>
                  <a:srgbClr val="F8FAF9"/>
                </a:solidFill>
                <a:latin typeface="Calibri"/>
              </a:defRPr>
            </a:pPr>
            <a:r>
              <a:t>No misleading claims of live brokerage status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0" y="-457200"/>
            <a:ext cx="3657600" cy="3657600"/>
          </a:xfrm>
          <a:prstGeom prst="rect">
            <a:avLst/>
          </a:prstGeom>
          <a:solidFill>
            <a:srgbClr val="0F3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10029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ADE80"/>
                </a:solidFill>
                <a:latin typeface="Calibri"/>
              </a:defRPr>
            </a:pPr>
            <a:r>
              <a:t>FOR INVESTORS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10029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AF9"/>
                </a:solidFill>
                <a:latin typeface="Calibri"/>
              </a:defRPr>
            </a:pPr>
            <a:r>
              <a:t>Addressing a trust deficit with product-led clarity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00200"/>
            <a:ext cx="3520440" cy="1417320"/>
          </a:xfrm>
          <a:prstGeom prst="rect">
            <a:avLst/>
          </a:prstGeom>
          <a:solidFill>
            <a:srgbClr val="1A5C38"/>
          </a:solidFill>
          <a:ln w="952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FAF9"/>
                </a:solidFill>
                <a:latin typeface="Calibri"/>
              </a:defRPr>
            </a:pPr>
            <a: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A92"/>
                </a:solidFill>
                <a:latin typeface="Calibri"/>
              </a:defRPr>
            </a:pPr>
            <a:r>
              <a:t>Retail shareholding halved. BO accounts emptying. Market cap under pressure. Confidence gap is structural.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600200"/>
            <a:ext cx="3520440" cy="1417320"/>
          </a:xfrm>
          <a:prstGeom prst="rect">
            <a:avLst/>
          </a:prstGeom>
          <a:solidFill>
            <a:srgbClr val="1A5C38"/>
          </a:solidFill>
          <a:ln w="952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6916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FAF9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9659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A92"/>
                </a:solidFill>
                <a:latin typeface="Calibri"/>
              </a:defRPr>
            </a:pPr>
            <a:r>
              <a:t>A consumer-grade mobile experience that makes portfolio state, costs, and risks legible — rebuilding engagement through transparency.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1000" y="1600200"/>
            <a:ext cx="3520440" cy="1417320"/>
          </a:xfrm>
          <a:prstGeom prst="rect">
            <a:avLst/>
          </a:prstGeom>
          <a:solidFill>
            <a:srgbClr val="1A5C38"/>
          </a:solidFill>
          <a:ln w="952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6916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FAF9"/>
                </a:solidFill>
                <a:latin typeface="Calibri"/>
              </a:defRPr>
            </a:pPr>
            <a:r>
              <a:t>Moat (planned)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19659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A92"/>
                </a:solidFill>
                <a:latin typeface="Calibri"/>
              </a:defRPr>
            </a:pPr>
            <a:r>
              <a:t>Bilingual UX · trust infrastructure · broker/DP integrations · licensed data · education layer.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3246120"/>
            <a:ext cx="5394960" cy="2103120"/>
          </a:xfrm>
          <a:prstGeom prst="rect">
            <a:avLst/>
          </a:prstGeom>
          <a:solidFill>
            <a:srgbClr val="1A221E"/>
          </a:solidFill>
          <a:ln w="9525">
            <a:solidFill>
              <a:srgbClr val="8A9A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3375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FAF9"/>
                </a:solidFill>
                <a:latin typeface="Calibri"/>
              </a:defRPr>
            </a:pPr>
            <a:r>
              <a:t>Business model options (not yet chosen)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6576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F8FAF9"/>
                </a:solidFill>
                <a:latin typeface="Calibri"/>
              </a:defRPr>
            </a:pPr>
            <a:r>
              <a:t>Brokerage revenue share with licensed partner</a:t>
            </a:r>
          </a:p>
          <a:p>
            <a:pPr>
              <a:spcAft>
                <a:spcPts val="600"/>
              </a:spcAft>
              <a:defRPr sz="1000">
                <a:solidFill>
                  <a:srgbClr val="F8FAF9"/>
                </a:solidFill>
                <a:latin typeface="Calibri"/>
              </a:defRPr>
            </a:pPr>
            <a:r>
              <a:t>Subscription for premium analytics / education</a:t>
            </a:r>
          </a:p>
          <a:p>
            <a:pPr>
              <a:spcAft>
                <a:spcPts val="600"/>
              </a:spcAft>
              <a:defRPr sz="1000">
                <a:solidFill>
                  <a:srgbClr val="F8FAF9"/>
                </a:solidFill>
                <a:latin typeface="Calibri"/>
              </a:defRPr>
            </a:pPr>
            <a:r>
              <a:t>B2B white-label UX for existing brokers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709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BBF24"/>
                </a:solidFill>
                <a:latin typeface="Calibri"/>
              </a:defRPr>
            </a:pPr>
            <a:r>
              <a:t>Not verified: Revenue model, unit economics, and fundraising terms are not finalized.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3246120"/>
            <a:ext cx="5349240" cy="2103120"/>
          </a:xfrm>
          <a:prstGeom prst="rect">
            <a:avLst/>
          </a:prstGeom>
          <a:solidFill>
            <a:srgbClr val="1A221E"/>
          </a:solidFill>
          <a:ln w="952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3375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FAF9"/>
                </a:solidFill>
                <a:latin typeface="Calibri"/>
              </a:defRPr>
            </a:pPr>
            <a:r>
              <a:t>Market sizing anchor (verified)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65760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F8FAF9"/>
                </a:solidFill>
                <a:latin typeface="Calibri"/>
              </a:defRPr>
            </a:pPr>
            <a:r>
              <a:t>~16.4L registered BO accounts (addressable registration base)</a:t>
            </a:r>
          </a:p>
          <a:p>
            <a:pPr>
              <a:spcAft>
                <a:spcPts val="600"/>
              </a:spcAft>
              <a:defRPr sz="1000">
                <a:solidFill>
                  <a:srgbClr val="F8FAF9"/>
                </a:solidFill>
                <a:latin typeface="Calibri"/>
              </a:defRPr>
            </a:pPr>
            <a:r>
              <a:t>~12L accounts with any shareholding</a:t>
            </a:r>
          </a:p>
          <a:p>
            <a:pPr>
              <a:spcAft>
                <a:spcPts val="600"/>
              </a:spcAft>
              <a:defRPr sz="1000">
                <a:solidFill>
                  <a:srgbClr val="F8FAF9"/>
                </a:solidFill>
                <a:latin typeface="Calibri"/>
              </a:defRPr>
            </a:pPr>
            <a:r>
              <a:t>DSE equity market cap ~Tk 3.1–3.5 trillion range (2025, varying by date/source)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0" y="-457200"/>
            <a:ext cx="3657600" cy="3657600"/>
          </a:xfrm>
          <a:prstGeom prst="rect">
            <a:avLst/>
          </a:prstGeom>
          <a:solidFill>
            <a:srgbClr val="0F3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10029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ADE80"/>
                </a:solidFill>
                <a:latin typeface="Calibri"/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10029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AF9"/>
                </a:solidFill>
                <a:latin typeface="Calibri"/>
              </a:defRPr>
            </a:pPr>
            <a:r>
              <a:t>Phased path from prototype to regulated product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00200"/>
            <a:ext cx="109728" cy="6858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ADE80"/>
                </a:solidFill>
                <a:latin typeface="Calibri"/>
              </a:defRPr>
            </a:pPr>
            <a:r>
              <a:t>Phase 0 · Complete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360" y="16002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FAF9"/>
                </a:solidFill>
                <a:latin typeface="Calibri"/>
              </a:defRPr>
            </a:pPr>
            <a:r>
              <a:t>UX prototype &amp; closed beta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18745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A92"/>
                </a:solidFill>
                <a:latin typeface="Calibri"/>
              </a:defRPr>
            </a:pPr>
            <a:r>
              <a:t>Mobile app, mock trading, Supabase auth, Trust Center, bilingual UI, admin concept dashboard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468880"/>
            <a:ext cx="109728" cy="6858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4688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ADE80"/>
                </a:solidFill>
                <a:latin typeface="Calibri"/>
              </a:defRPr>
            </a:pPr>
            <a:r>
              <a:t>Phase 1 · Next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4688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FAF9"/>
                </a:solidFill>
                <a:latin typeface="Calibri"/>
              </a:defRPr>
            </a:pPr>
            <a:r>
              <a:t>Expanded beta &amp; broker conversations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7432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A92"/>
                </a:solidFill>
                <a:latin typeface="Calibri"/>
              </a:defRPr>
            </a:pPr>
            <a:r>
              <a:t>Define broker API contract · align BO onboarding with DP partner · licensed market data evaluation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337560"/>
            <a:ext cx="109728" cy="685800"/>
          </a:xfrm>
          <a:prstGeom prst="rect">
            <a:avLst/>
          </a:prstGeom>
          <a:solidFill>
            <a:srgbClr val="8A9A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3375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ADE80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33375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FAF9"/>
                </a:solidFill>
                <a:latin typeface="Calibri"/>
              </a:defRPr>
            </a:pPr>
            <a:r>
              <a:t>Regulatory &amp; integration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361188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A92"/>
                </a:solidFill>
                <a:latin typeface="Calibri"/>
              </a:defRPr>
            </a:pPr>
            <a:r>
              <a:t>KYC/AML provider · replace mock services · CDBL-aligned account flows · BSEC compliance review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4206240"/>
            <a:ext cx="109728" cy="685800"/>
          </a:xfrm>
          <a:prstGeom prst="rect">
            <a:avLst/>
          </a:prstGeom>
          <a:solidFill>
            <a:srgbClr val="8A9A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2062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ADE80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4206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FAF9"/>
                </a:solidFill>
                <a:latin typeface="Calibri"/>
              </a:defRPr>
            </a:pPr>
            <a:r>
              <a:t>Controlled launch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448056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A92"/>
                </a:solidFill>
                <a:latin typeface="Calibri"/>
              </a:defRPr>
            </a:pPr>
            <a:r>
              <a:t>Live execution via licensed partner · Learn tab · real payments · public rollout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34924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9A92"/>
                </a:solidFill>
                <a:latin typeface="Calibri"/>
              </a:defRPr>
            </a:pPr>
            <a:r>
              <a:t>Timeline is indicative — subject to regulatory approval and partnership timelines.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0" y="-457200"/>
            <a:ext cx="3657600" cy="3657600"/>
          </a:xfrm>
          <a:prstGeom prst="rect">
            <a:avLst/>
          </a:prstGeom>
          <a:solidFill>
            <a:srgbClr val="0F3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10029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ADE80"/>
                </a:solidFill>
                <a:latin typeface="Calibri"/>
              </a:defRPr>
            </a:pPr>
            <a:r>
              <a:t>STRATEGIC TIMING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10029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AF9"/>
                </a:solidFill>
                <a:latin typeface="Calibri"/>
              </a:defRPr>
            </a:pPr>
            <a:r>
              <a:t>Why LenDen, why now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00200"/>
            <a:ext cx="5349240" cy="1920240"/>
          </a:xfrm>
          <a:prstGeom prst="rect">
            <a:avLst/>
          </a:prstGeom>
          <a:solidFill>
            <a:srgbClr val="1A221E"/>
          </a:solidFill>
          <a:ln w="9525">
            <a:solidFill>
              <a:srgbClr val="8A9A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0992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FAF9"/>
                </a:solidFill>
                <a:latin typeface="Calibri"/>
              </a:defRPr>
            </a:pPr>
            <a:r>
              <a:t>Market forces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F8FAF9"/>
                </a:solidFill>
                <a:latin typeface="Calibri"/>
              </a:defRPr>
            </a:pPr>
            <a:r>
              <a:t>Retail exodus creates demand for a better on-ramp when confidence returns</a:t>
            </a:r>
          </a:p>
          <a:p>
            <a:pPr>
              <a:spcAft>
                <a:spcPts val="600"/>
              </a:spcAft>
              <a:defRPr sz="1000">
                <a:solidFill>
                  <a:srgbClr val="F8FAF9"/>
                </a:solidFill>
                <a:latin typeface="Calibri"/>
              </a:defRPr>
            </a:pPr>
            <a:r>
              <a:t>Institutional/HNI participation rising — retail UX gap widens</a:t>
            </a:r>
          </a:p>
          <a:p>
            <a:pPr>
              <a:spcAft>
                <a:spcPts val="600"/>
              </a:spcAft>
              <a:defRPr sz="1000">
                <a:solidFill>
                  <a:srgbClr val="F8FAF9"/>
                </a:solidFill>
                <a:latin typeface="Calibri"/>
              </a:defRPr>
            </a:pPr>
            <a:r>
              <a:t>DSEX volatility underscores need for clear, honest investor communication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600200"/>
            <a:ext cx="5349240" cy="1920240"/>
          </a:xfrm>
          <a:prstGeom prst="rect">
            <a:avLst/>
          </a:prstGeom>
          <a:solidFill>
            <a:srgbClr val="1A221E"/>
          </a:solidFill>
          <a:ln w="9525">
            <a:solidFill>
              <a:srgbClr val="8A9A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0992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FAF9"/>
                </a:solidFill>
                <a:latin typeface="Calibri"/>
              </a:defRPr>
            </a:pPr>
            <a:r>
              <a:t>Technology enablers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F8FAF9"/>
                </a:solidFill>
                <a:latin typeface="Calibri"/>
              </a:defRPr>
            </a:pPr>
            <a:r>
              <a:t>130M+ internet users — mobile-first is default</a:t>
            </a:r>
          </a:p>
          <a:p>
            <a:pPr>
              <a:spcAft>
                <a:spcPts val="600"/>
              </a:spcAft>
              <a:defRPr sz="1000">
                <a:solidFill>
                  <a:srgbClr val="F8FAF9"/>
                </a:solidFill>
                <a:latin typeface="Calibri"/>
              </a:defRPr>
            </a:pPr>
            <a:r>
              <a:t>Cloud auth/DB (Supabase) lowers time-to-beta</a:t>
            </a:r>
          </a:p>
          <a:p>
            <a:pPr>
              <a:spcAft>
                <a:spcPts val="600"/>
              </a:spcAft>
              <a:defRPr sz="1000">
                <a:solidFill>
                  <a:srgbClr val="F8FAF9"/>
                </a:solidFill>
                <a:latin typeface="Calibri"/>
              </a:defRPr>
            </a:pPr>
            <a:r>
              <a:t>Capacitor enables native iOS without dual codebases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3794760"/>
            <a:ext cx="5349240" cy="1920240"/>
          </a:xfrm>
          <a:prstGeom prst="rect">
            <a:avLst/>
          </a:prstGeom>
          <a:solidFill>
            <a:srgbClr val="1A221E"/>
          </a:solidFill>
          <a:ln w="9525">
            <a:solidFill>
              <a:srgbClr val="8A9A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90448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FAF9"/>
                </a:solidFill>
                <a:latin typeface="Calibri"/>
              </a:defRPr>
            </a:pPr>
            <a:r>
              <a:t>Policy alignment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062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F8FAF9"/>
                </a:solidFill>
                <a:latin typeface="Calibri"/>
              </a:defRPr>
            </a:pPr>
            <a:r>
              <a:t>Digital Bangladesh — financial inclusion via mobile</a:t>
            </a:r>
          </a:p>
          <a:p>
            <a:pPr>
              <a:spcAft>
                <a:spcPts val="600"/>
              </a:spcAft>
              <a:defRPr sz="1000">
                <a:solidFill>
                  <a:srgbClr val="F8FAF9"/>
                </a:solidFill>
                <a:latin typeface="Calibri"/>
              </a:defRPr>
            </a:pPr>
            <a:r>
              <a:t>Capital market deepening is a stated policy goal</a:t>
            </a:r>
          </a:p>
          <a:p>
            <a:pPr>
              <a:spcAft>
                <a:spcPts val="600"/>
              </a:spcAft>
              <a:defRPr sz="1000">
                <a:solidFill>
                  <a:srgbClr val="F8FAF9"/>
                </a:solidFill>
                <a:latin typeface="Calibri"/>
              </a:defRPr>
            </a:pPr>
            <a:r>
              <a:t>Regulator emphasis on BO account quality over raw count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3794760"/>
            <a:ext cx="5349240" cy="1920240"/>
          </a:xfrm>
          <a:prstGeom prst="rect">
            <a:avLst/>
          </a:prstGeom>
          <a:solidFill>
            <a:srgbClr val="1A5C38"/>
          </a:solidFill>
          <a:ln w="952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90448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FAF9"/>
                </a:solidFill>
                <a:latin typeface="Calibri"/>
              </a:defRPr>
            </a:pPr>
            <a:r>
              <a:t>LenDen's ask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2062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F8FAF9"/>
                </a:solidFill>
                <a:latin typeface="Calibri"/>
              </a:defRPr>
            </a:pPr>
            <a:r>
              <a:t>Guidance on regulatory pathway for UX-layer + broker partnership model</a:t>
            </a:r>
          </a:p>
          <a:p>
            <a:pPr>
              <a:spcAft>
                <a:spcPts val="600"/>
              </a:spcAft>
              <a:defRPr sz="1000">
                <a:solidFill>
                  <a:srgbClr val="F8FAF9"/>
                </a:solidFill>
                <a:latin typeface="Calibri"/>
              </a:defRPr>
            </a:pPr>
            <a:r>
              <a:t>Introductions to licensed brokers &amp; DPs</a:t>
            </a:r>
          </a:p>
          <a:p>
            <a:pPr>
              <a:spcAft>
                <a:spcPts val="600"/>
              </a:spcAft>
              <a:defRPr sz="1000">
                <a:solidFill>
                  <a:srgbClr val="F8FAF9"/>
                </a:solidFill>
                <a:latin typeface="Calibri"/>
              </a:defRPr>
            </a:pPr>
            <a:r>
              <a:t>Investor/partner conversations for Phase 1–2 funding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0" y="-457200"/>
            <a:ext cx="3657600" cy="3657600"/>
          </a:xfrm>
          <a:prstGeom prst="rect">
            <a:avLst/>
          </a:prstGeom>
          <a:solidFill>
            <a:srgbClr val="0F3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10029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ADE80"/>
                </a:solidFill>
                <a:latin typeface="Calibri"/>
              </a:defRPr>
            </a:pPr>
            <a:r>
              <a:t>APPENDIX · DATA 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10029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AF9"/>
                </a:solidFill>
                <a:latin typeface="Calibri"/>
              </a:defRPr>
            </a:pPr>
            <a:r>
              <a:t>Verified sources &amp; explicit unknowns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50876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4ADE80"/>
                </a:solidFill>
                <a:latin typeface="Calibri"/>
              </a:defRPr>
            </a:pPr>
            <a:r>
              <a:t>Metric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150876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4ADE80"/>
                </a:solidFill>
                <a:latin typeface="Calibri"/>
              </a:defRPr>
            </a:pPr>
            <a:r>
              <a:t>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78040" y="1508760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4ADE80"/>
                </a:solidFill>
                <a:latin typeface="Calibri"/>
              </a:defRPr>
            </a:pPr>
            <a:r>
              <a:t>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64792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8FAF9"/>
                </a:solidFill>
                <a:latin typeface="Calibri"/>
              </a:defRPr>
            </a:pPr>
            <a:r>
              <a:t>BO accounts (total)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1764792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9A92"/>
                </a:solidFill>
                <a:latin typeface="Calibri"/>
              </a:defRPr>
            </a:pPr>
            <a:r>
              <a:t>16.39 lakh (24 Dec 2025)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764792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9A92"/>
                </a:solidFill>
                <a:latin typeface="Calibri"/>
              </a:defRPr>
            </a:pPr>
            <a:r>
              <a:t>CDBL via TBS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98424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8FAF9"/>
                </a:solidFill>
                <a:latin typeface="Calibri"/>
              </a:defRPr>
            </a:pPr>
            <a:r>
              <a:t>BO with shares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198424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9A92"/>
                </a:solidFill>
                <a:latin typeface="Calibri"/>
              </a:defRPr>
            </a:pPr>
            <a:r>
              <a:t>12.05 lakh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1984248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9A92"/>
                </a:solidFill>
                <a:latin typeface="Calibri"/>
              </a:defRPr>
            </a:pPr>
            <a:r>
              <a:t>CDBL via TBS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203704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8FAF9"/>
                </a:solidFill>
                <a:latin typeface="Calibri"/>
              </a:defRPr>
            </a:pPr>
            <a:r>
              <a:t>BO zero balance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2203704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9A92"/>
                </a:solidFill>
                <a:latin typeface="Calibri"/>
              </a:defRPr>
            </a:pPr>
            <a:r>
              <a:t>3.67 lakh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2203704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9A92"/>
                </a:solidFill>
                <a:latin typeface="Calibri"/>
              </a:defRPr>
            </a:pPr>
            <a:r>
              <a:t>CDBL via TBS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42316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8FAF9"/>
                </a:solidFill>
                <a:latin typeface="Calibri"/>
              </a:defRPr>
            </a:pPr>
            <a:r>
              <a:t>Accounts &lt; Tk 1L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6200" y="242316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9A92"/>
                </a:solidFill>
                <a:latin typeface="Calibri"/>
              </a:defRPr>
            </a:pPr>
            <a:r>
              <a:t>8.32 lakh (Jun 2025)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2423160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9A92"/>
                </a:solidFill>
                <a:latin typeface="Calibri"/>
              </a:defRPr>
            </a:pPr>
            <a:r>
              <a:t>BSEC via TBS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2642616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8FAF9"/>
                </a:solidFill>
                <a:latin typeface="Calibri"/>
              </a:defRPr>
            </a:pPr>
            <a:r>
              <a:t>Accounts &gt; Tk 1Cr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2642616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9A92"/>
                </a:solidFill>
                <a:latin typeface="Calibri"/>
              </a:defRPr>
            </a:pPr>
            <a:r>
              <a:t>13,316 (Jun 2025)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2642616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9A92"/>
                </a:solidFill>
                <a:latin typeface="Calibri"/>
              </a:defRPr>
            </a:pPr>
            <a:r>
              <a:t>BSEC via TBS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2862072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8FAF9"/>
                </a:solidFill>
                <a:latin typeface="Calibri"/>
              </a:defRPr>
            </a:pPr>
            <a:r>
              <a:t>Retail shareholding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86200" y="2862072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9A92"/>
                </a:solidFill>
                <a:latin typeface="Calibri"/>
              </a:defRPr>
            </a:pPr>
            <a:r>
              <a:t>37.9% → ~20% (12 yrs)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2862072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9A92"/>
                </a:solidFill>
                <a:latin typeface="Calibri"/>
              </a:defRPr>
            </a:pPr>
            <a:r>
              <a:t>Daily Star / DSE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308152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8FAF9"/>
                </a:solidFill>
                <a:latin typeface="Calibri"/>
              </a:defRPr>
            </a:pPr>
            <a:r>
              <a:t>BO decline 2016→2024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86200" y="308152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9A92"/>
                </a:solidFill>
                <a:latin typeface="Calibri"/>
              </a:defRPr>
            </a:pPr>
            <a:r>
              <a:t>29.2L → 16.7L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3081528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9A92"/>
                </a:solidFill>
                <a:latin typeface="Calibri"/>
              </a:defRPr>
            </a:pPr>
            <a:r>
              <a:t>Financial Express / DSE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3300984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8FAF9"/>
                </a:solidFill>
                <a:latin typeface="Calibri"/>
              </a:defRPr>
            </a:pPr>
            <a:r>
              <a:t>Mobile subscribers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6200" y="3300984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9A92"/>
                </a:solidFill>
                <a:latin typeface="Calibri"/>
              </a:defRPr>
            </a:pPr>
            <a:r>
              <a:t>186.06M (Mar 2026)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78040" y="3300984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9A92"/>
                </a:solidFill>
                <a:latin typeface="Calibri"/>
              </a:defRPr>
            </a:pPr>
            <a:r>
              <a:t>BTRC / AMTOB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352044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8FAF9"/>
                </a:solidFill>
                <a:latin typeface="Calibri"/>
              </a:defRPr>
            </a:pPr>
            <a:r>
              <a:t>Internet subscribers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86200" y="352044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9A92"/>
                </a:solidFill>
                <a:latin typeface="Calibri"/>
              </a:defRPr>
            </a:pPr>
            <a:r>
              <a:t>129.62M (Mar 2026)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78040" y="3520440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9A92"/>
                </a:solidFill>
                <a:latin typeface="Calibri"/>
              </a:defRPr>
            </a:pPr>
            <a:r>
              <a:t>BTRC / AMTOB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3739896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8FAF9"/>
                </a:solidFill>
                <a:latin typeface="Calibri"/>
              </a:defRPr>
            </a:pPr>
            <a:r>
              <a:t>DSEX (Dec 2025)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86200" y="3739896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9A92"/>
                </a:solidFill>
                <a:latin typeface="Calibri"/>
              </a:defRPr>
            </a:pPr>
            <a:r>
              <a:t>~4,883 (−333 YTD)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78040" y="3739896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9A92"/>
                </a:solidFill>
                <a:latin typeface="Calibri"/>
              </a:defRPr>
            </a:pPr>
            <a:r>
              <a:t>TBS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" y="3977639"/>
            <a:ext cx="11002975" cy="1005840"/>
          </a:xfrm>
          <a:prstGeom prst="rect">
            <a:avLst/>
          </a:prstGeom>
          <a:solidFill>
            <a:srgbClr val="1A221E"/>
          </a:solidFill>
          <a:ln w="952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4069080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8FAF9"/>
                </a:solidFill>
                <a:latin typeface="Calibri"/>
              </a:defRPr>
            </a:pPr>
            <a:r>
              <a:t>Not included (unknown / not applicable): LenDen user count, transaction volume, AUM, revenue, funding raised, team size, broker partnership status, BSEC/Bangladesh Bank approval status, bKash integration metrics, or competitor market share.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0" y="-457200"/>
            <a:ext cx="3657600" cy="3657600"/>
          </a:xfrm>
          <a:prstGeom prst="rect">
            <a:avLst/>
          </a:prstGeom>
          <a:solidFill>
            <a:srgbClr val="0F3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0" y="1371600"/>
            <a:ext cx="822960" cy="822960"/>
          </a:xfrm>
          <a:prstGeom prst="rect">
            <a:avLst/>
          </a:prstGeom>
          <a:solidFill>
            <a:srgbClr val="1A5C38"/>
          </a:solidFill>
          <a:ln w="952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33872" y="1481328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4ADE80"/>
                </a:solidFill>
                <a:latin typeface="Calibri"/>
              </a:defRPr>
            </a:pPr>
            <a:r>
              <a:t>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423160"/>
            <a:ext cx="110029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FAF9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154680"/>
            <a:ext cx="1100297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A9A92"/>
                </a:solidFill>
                <a:latin typeface="Calibri"/>
              </a:defRPr>
            </a:pPr>
            <a:r>
              <a:t>প্রতিটি বিনিয়োগে স্পষ্টতা।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611880"/>
            <a:ext cx="110029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A9A92"/>
                </a:solidFill>
                <a:latin typeface="Calibri"/>
              </a:defRPr>
            </a:pPr>
            <a:r>
              <a:t>Let's build trustworthy retail investing for Bangladesh — together.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434840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8FAF9"/>
                </a:solidFill>
                <a:latin typeface="Calibri"/>
              </a:defRPr>
            </a:pPr>
            <a:r>
              <a:t>Email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4434840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A9A92"/>
                </a:solidFill>
                <a:latin typeface="Calibri"/>
              </a:defRPr>
            </a:pPr>
            <a:r>
              <a:t>mahathirmahbubimf@gmail.com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754880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8FAF9"/>
                </a:solidFill>
                <a:latin typeface="Calibri"/>
              </a:defRPr>
            </a:pPr>
            <a:r>
              <a:t>Product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4754880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A9A92"/>
                </a:solidFill>
                <a:latin typeface="Calibri"/>
              </a:defRPr>
            </a:pPr>
            <a:r>
              <a:t>LenDen · Closed Beta Prototype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074920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8FAF9"/>
                </a:solidFill>
                <a:latin typeface="Calibri"/>
              </a:defRPr>
            </a:pPr>
            <a:r>
              <a:t>Deck version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5074920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A9A92"/>
                </a:solidFill>
                <a:latin typeface="Calibri"/>
              </a:defRPr>
            </a:pPr>
            <a:r>
              <a:t>May 2026 · Stakeholder v1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